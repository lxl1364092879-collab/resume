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7559675" cy="10691813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22" userDrawn="1">
          <p15:clr>
            <a:srgbClr val="A4A3A4"/>
          </p15:clr>
        </p15:guide>
        <p15:guide id="2" pos="23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54" d="100"/>
          <a:sy n="54" d="100"/>
        </p:scale>
        <p:origin x="2638" y="31"/>
      </p:cViewPr>
      <p:guideLst>
        <p:guide orient="horz" pos="3422"/>
        <p:guide pos="23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743350" y="1425600"/>
            <a:ext cx="6076276" cy="400739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96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048582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743350" y="5550860"/>
            <a:ext cx="6076276" cy="229555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985" spc="200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89760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3870" indent="0" algn="ctr">
              <a:buNone/>
              <a:defRPr sz="1325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048583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1048584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585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56" y="948529"/>
            <a:ext cx="6801768" cy="110006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48609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77256" y="2323616"/>
            <a:ext cx="6801768" cy="741985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10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1048611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2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234453" y="5999868"/>
            <a:ext cx="4817268" cy="119548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4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04862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234453" y="7195351"/>
            <a:ext cx="4817268" cy="135263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4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782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8976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387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104862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104862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56" y="948529"/>
            <a:ext cx="6801768" cy="110006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48628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377256" y="2340453"/>
            <a:ext cx="3210024" cy="740301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29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975697" y="2340453"/>
            <a:ext cx="3210024" cy="740301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48630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1048631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2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56" y="948529"/>
            <a:ext cx="6801768" cy="110006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48634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377256" y="2228202"/>
            <a:ext cx="3312709" cy="5949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1048635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77256" y="2890488"/>
            <a:ext cx="3312709" cy="685298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36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3866656" y="2216554"/>
            <a:ext cx="3312709" cy="59493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1048637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3866656" y="2890488"/>
            <a:ext cx="3312709" cy="685298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38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1048639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40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56" y="948529"/>
            <a:ext cx="6801768" cy="110006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48600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1048601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2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1048642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43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377212" y="2424510"/>
            <a:ext cx="3244894" cy="718443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endParaRPr lang="zh-CN" altLang="en-US"/>
          </a:p>
        </p:txBody>
      </p:sp>
      <p:sp>
        <p:nvSpPr>
          <p:cNvPr id="1048645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3937748" y="2424642"/>
            <a:ext cx="3241276" cy="718412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646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2026/9/4</a:t>
            </a:fld>
            <a:endParaRPr lang="zh-CN" altLang="en-US" dirty="0"/>
          </a:p>
        </p:txBody>
      </p:sp>
      <p:sp>
        <p:nvSpPr>
          <p:cNvPr id="1048647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48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64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6346382" y="1425600"/>
            <a:ext cx="647362" cy="78408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15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1048614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567000" y="1425600"/>
            <a:ext cx="5685626" cy="7840800"/>
          </a:xfrm>
        </p:spPr>
        <p:txBody>
          <a:bodyPr vert="eaVert" lIns="46800" tIns="46800" rIns="46800" bIns="46800"/>
          <a:lstStyle>
            <a:lvl1pPr marL="189230" indent="-189230">
              <a:spcAft>
                <a:spcPts val="1000"/>
              </a:spcAft>
              <a:defRPr spc="300"/>
            </a:lvl1pPr>
            <a:lvl2pPr marL="567055" indent="-189230">
              <a:defRPr spc="300"/>
            </a:lvl2pPr>
            <a:lvl3pPr marL="944880" indent="-189230">
              <a:defRPr spc="300"/>
            </a:lvl3pPr>
            <a:lvl4pPr marL="1322705" indent="-189230">
              <a:defRPr spc="300"/>
            </a:lvl4pPr>
            <a:lvl5pPr marL="1701165" indent="-18923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48615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1048616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7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1048619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0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621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377256" y="1206709"/>
            <a:ext cx="6804000" cy="85479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104860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606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743350" y="3872693"/>
            <a:ext cx="6076276" cy="1588365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96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104860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743350" y="5550860"/>
            <a:ext cx="6076276" cy="73525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98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377256" y="948529"/>
            <a:ext cx="6801768" cy="1100069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377256" y="2323616"/>
            <a:ext cx="6801768" cy="741985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379488" y="9844497"/>
            <a:ext cx="1674213" cy="493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2552244" y="9844497"/>
            <a:ext cx="2455512" cy="493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5504811" y="9844497"/>
            <a:ext cx="1674213" cy="493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6285" rtl="0" eaLnBrk="1" fontAlgn="auto" latinLnBrk="0" hangingPunct="1">
        <a:lnSpc>
          <a:spcPct val="100000"/>
        </a:lnSpc>
        <a:spcBef>
          <a:spcPct val="0"/>
        </a:spcBef>
        <a:buNone/>
        <a:defRPr sz="2975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4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6705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330960" algn="l"/>
          <a:tab pos="1330960" algn="l"/>
          <a:tab pos="1330960" algn="l"/>
          <a:tab pos="1330960" algn="l"/>
        </a:tabLst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44880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32270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1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70116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681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8976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387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文本框 4"/>
          <p:cNvSpPr txBox="1"/>
          <p:nvPr/>
        </p:nvSpPr>
        <p:spPr>
          <a:xfrm>
            <a:off x="1663065" y="288925"/>
            <a:ext cx="40322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姓名：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林相龙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</a:p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电话：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18559852845    </a:t>
            </a:r>
          </a:p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linxianglongfzu@163.com </a:t>
            </a:r>
          </a:p>
          <a:p>
            <a:pPr algn="ctr"/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587" name="文本框 5"/>
          <p:cNvSpPr txBox="1"/>
          <p:nvPr/>
        </p:nvSpPr>
        <p:spPr>
          <a:xfrm>
            <a:off x="148590" y="1975485"/>
            <a:ext cx="7185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048588" name="文本框 10"/>
          <p:cNvSpPr txBox="1"/>
          <p:nvPr/>
        </p:nvSpPr>
        <p:spPr>
          <a:xfrm>
            <a:off x="356235" y="1471931"/>
            <a:ext cx="788225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福建农林</a:t>
            </a:r>
            <a:r>
              <a:rPr lang="en-US" altLang="en-US" sz="12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大学</a:t>
            </a: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lang="en-US" altLang="en-US" sz="12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交通与土木工程</a:t>
            </a:r>
            <a:r>
              <a:rPr sz="12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学院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工程管理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.09-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2024.07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30000"/>
              </a:lnSpc>
            </a:pP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CET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/CET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487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/(540)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GPA: 3.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/4          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成绩</a:t>
            </a:r>
            <a:r>
              <a:rPr sz="12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排名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 </a:t>
            </a:r>
          </a:p>
          <a:p>
            <a:pPr algn="l" fontAlgn="auto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福州大学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	        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经济与管理学院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管理科学与工程（供应链方向）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2024.09-</a:t>
            </a:r>
          </a:p>
        </p:txBody>
      </p:sp>
      <p:sp>
        <p:nvSpPr>
          <p:cNvPr id="1048589" name="文本框 11"/>
          <p:cNvSpPr txBox="1"/>
          <p:nvPr/>
        </p:nvSpPr>
        <p:spPr>
          <a:xfrm>
            <a:off x="334645" y="2514200"/>
            <a:ext cx="6998970" cy="6963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marR="0" lvl="0" indent="-1714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2025.07-2026.03                  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利莱森玛电机科技（福州）有限公司</a:t>
            </a:r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Sourcing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lvl="0" indent="3048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  <a:extLst>
                <a:ext uri="{35155182-B16C-46BC-9424-99874614C6A1}">
                  <wpsdc:indentchars xmlns=""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物料寻源与新品开发：独立开发特殊机型灯具物料，筛选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家潜在供应商，经技术、成本、工艺多维评估敲定合作方；协助转轴物料供应商开发，汇总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CBD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报价、制作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RFQ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询价比价；负责端盖、机座、端子排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大类百余项新品全流程跟进。对接计划、设计、物流多部门，统筹需求沟通、图纸变更、报价议价、加急项目协调；落实每日复盘，实现新品交付OTD 100%；</a:t>
            </a:r>
          </a:p>
          <a:p>
            <a:pPr marR="0" lvl="0" indent="3048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  <a:extLst>
                <a:ext uri="{35155182-B16C-46BC-9424-99874614C6A1}">
                  <wpsdc:indentchars xmlns=""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供应商与合同管理：编制、归档各类采购合同，完成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97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家供应商合同审核与续签，严守合规要求；协助供应商考核，分析年度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PPM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OTD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数据，跟进现场审核整改，输出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TOP5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供应商及供应圈可视化分析报告。</a:t>
            </a:r>
          </a:p>
          <a:p>
            <a:pPr marR="0" lvl="0" indent="3048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  <a:extLst>
                <a:ext uri="{35155182-B16C-46BC-9424-99874614C6A1}">
                  <wpsdc:indentchars xmlns=""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成本管控与数据分析：汇总千余项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CBD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报价单，结合成本波动与协议框架完成供应商调价；用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RPA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爬取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14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项原材料日价，分析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大类物料月度通胀，借助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FineBI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制作可视化报表，支撑成本管控。</a:t>
            </a:r>
          </a:p>
          <a:p>
            <a:pPr marR="0" lvl="0" indent="3048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  <a:extLst>
                <a:ext uri="{35155182-B16C-46BC-9424-99874614C6A1}">
                  <wpsdc:indentchars xmlns=""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数字化提效与项目推进：通过搭建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21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RPA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自动化方案，完成高频重复工作的自动化改造，有效降低人力成本，节约工时达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83%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；参与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SRM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系统项目，拆解采购工作为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大模块，通过挖取历史采购数据，分析评估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SRM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系统降本效益，主持多方调研访谈，推动项目落地。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2026.04-2026.09                                    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京东</a:t>
            </a:r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采销</a:t>
            </a: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lvl="0" indent="3048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  <a:extLst>
                <a:ext uri="{35155182-B16C-46BC-9424-99874614C6A1}">
                  <wpsdc:indentchars xmlns=""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供应链运营：对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400+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sku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每日进行库存分析，聚焦长库龄库存与低周转库存对供应链做出优化，保证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PV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现货率的同时降低库存成本。维持数量周转在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28.19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天同比降低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22.14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天，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PV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现货率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99.7%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同比上升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0.18pp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，滞销库存占比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6.51%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，同比下降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7.13pp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，实现供应商履约率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100%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。搭建库存看板，将库存数据可视化，每日监控部门库存情况。</a:t>
            </a:r>
          </a:p>
          <a:p>
            <a:pPr marR="0" lvl="0" indent="3048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  <a:extLst>
                <a:ext uri="{35155182-B16C-46BC-9424-99874614C6A1}">
                  <wpsdc:indentchars xmlns:wpsdc="http://www.wps.cn/officeDocument/2017/drawingmlCustomData" xmlns="" val="200" checksum="1077528236"/>
                </a:ext>
              </a:extLst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商品运营：负责新品首发月冷启动与推广，通过主题活动、预售、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CPS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团长带货及品类排行榜扩大流量，结合客户画像优化投放策略与搜索推荐词，持续测试主图、商详及标题提升转化率，首发月销量达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3,561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台，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GMV 41.9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万元。</a:t>
            </a:r>
          </a:p>
          <a:p>
            <a:pPr marR="0" lvl="0" indent="3048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  <a:extLst>
                <a:ext uri="{35155182-B16C-46BC-9424-99874614C6A1}">
                  <wpsdc:indentchars xmlns=""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货盘运营：负责部门京喜货盘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0-1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搭建，寻找工厂谈判低价尾货包销，商品上架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精细化运营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广告投放全流程运营，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周内实现日销稳定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5w+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，爆款商品日销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300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件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</a:p>
          <a:p>
            <a:pPr marR="0" lvl="0" indent="3048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  <a:extLst>
                <a:ext uri="{35155182-B16C-46BC-9424-99874614C6A1}">
                  <wpsdc:indentchars xmlns=""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类目提升：通过搭建专属会场引导消费由低端向高端升级转化，影响用户心智，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周内高端冰形日均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GMV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由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31w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提升至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36.8w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gmv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占比提升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4.53pp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；日均订单占比提升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1.96pp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带动制冰机大盘成交金额环比提升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3.73pp 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，件单价提升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3.41pp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，大盘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uv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环比提升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15.71pp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。通过提升件单价减缓了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7-8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月制冰机类目整体下滑对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GMV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的影响。</a:t>
            </a:r>
          </a:p>
          <a:p>
            <a:pPr marR="0" lvl="0" indent="30480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  <a:extLst>
                <a:ext uri="{35155182-B16C-46BC-9424-99874614C6A1}">
                  <wpsdc:indentchars xmlns="" xmlns:wpsdc="http://www.wps.cn/officeDocument/2017/drawingmlCustomData" val="200" checksum="1077528236"/>
                </a:ext>
              </a:extLst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提效：为全组成员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100%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普及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claude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code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安装及使用，生成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份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全景指南，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份业务看板，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份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skill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，所有产出皆可复用。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" name="组合 30"/>
          <p:cNvGrpSpPr/>
          <p:nvPr/>
        </p:nvGrpSpPr>
        <p:grpSpPr>
          <a:xfrm>
            <a:off x="356235" y="1133476"/>
            <a:ext cx="6842125" cy="645160"/>
            <a:chOff x="561" y="2170"/>
            <a:chExt cx="10775" cy="1016"/>
          </a:xfrm>
        </p:grpSpPr>
        <p:sp>
          <p:nvSpPr>
            <p:cNvPr id="1048590" name="文本框 31"/>
            <p:cNvSpPr txBox="1"/>
            <p:nvPr/>
          </p:nvSpPr>
          <p:spPr>
            <a:xfrm>
              <a:off x="561" y="2170"/>
              <a:ext cx="275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j-ea"/>
                  <a:ea typeface="+mj-ea"/>
                </a:rPr>
                <a:t>教育背景</a:t>
              </a:r>
            </a:p>
            <a:p>
              <a:endParaRPr lang="zh-CN" altLang="en-US" b="1" dirty="0">
                <a:latin typeface="+mj-ea"/>
                <a:ea typeface="+mj-ea"/>
              </a:endParaRPr>
            </a:p>
          </p:txBody>
        </p:sp>
        <p:cxnSp>
          <p:nvCxnSpPr>
            <p:cNvPr id="3145728" name="直接连接符 32"/>
            <p:cNvCxnSpPr/>
            <p:nvPr/>
          </p:nvCxnSpPr>
          <p:spPr>
            <a:xfrm>
              <a:off x="564" y="2771"/>
              <a:ext cx="1077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594" name="文本框 41"/>
          <p:cNvSpPr txBox="1"/>
          <p:nvPr/>
        </p:nvSpPr>
        <p:spPr>
          <a:xfrm>
            <a:off x="241935" y="9827260"/>
            <a:ext cx="739521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计算类：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</a:t>
            </a:r>
            <a:r>
              <a:rPr lang="en-US" altLang="zh-CN" sz="12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Matlb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软件；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Claude Code;claw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办公类：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VISO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CAD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Office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等软件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语言类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通过英语四六级，能够进行日常交流。</a:t>
            </a:r>
          </a:p>
        </p:txBody>
      </p:sp>
      <p:grpSp>
        <p:nvGrpSpPr>
          <p:cNvPr id="19" name="组合 57"/>
          <p:cNvGrpSpPr/>
          <p:nvPr/>
        </p:nvGrpSpPr>
        <p:grpSpPr>
          <a:xfrm>
            <a:off x="356235" y="2203450"/>
            <a:ext cx="6840220" cy="368300"/>
            <a:chOff x="566" y="2191"/>
            <a:chExt cx="10772" cy="580"/>
          </a:xfrm>
        </p:grpSpPr>
        <p:sp>
          <p:nvSpPr>
            <p:cNvPr id="1048595" name="文本框 58"/>
            <p:cNvSpPr txBox="1"/>
            <p:nvPr/>
          </p:nvSpPr>
          <p:spPr>
            <a:xfrm>
              <a:off x="569" y="2191"/>
              <a:ext cx="275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latin typeface="+mj-ea"/>
                  <a:ea typeface="+mj-ea"/>
                </a:rPr>
                <a:t>个人履历</a:t>
              </a:r>
              <a:r>
                <a:rPr lang="en-US" altLang="zh-CN" b="1">
                  <a:latin typeface="+mj-ea"/>
                  <a:ea typeface="+mj-ea"/>
                </a:rPr>
                <a:t> </a:t>
              </a:r>
            </a:p>
          </p:txBody>
        </p:sp>
        <p:cxnSp>
          <p:nvCxnSpPr>
            <p:cNvPr id="3145729" name="直接连接符 59"/>
            <p:cNvCxnSpPr/>
            <p:nvPr/>
          </p:nvCxnSpPr>
          <p:spPr>
            <a:xfrm>
              <a:off x="566" y="2765"/>
              <a:ext cx="1077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65"/>
          <p:cNvGrpSpPr/>
          <p:nvPr/>
        </p:nvGrpSpPr>
        <p:grpSpPr>
          <a:xfrm>
            <a:off x="241935" y="9478010"/>
            <a:ext cx="6920865" cy="645160"/>
            <a:chOff x="440" y="2647"/>
            <a:chExt cx="10899" cy="1016"/>
          </a:xfrm>
        </p:grpSpPr>
        <p:sp>
          <p:nvSpPr>
            <p:cNvPr id="4" name="文本框 66"/>
            <p:cNvSpPr txBox="1"/>
            <p:nvPr/>
          </p:nvSpPr>
          <p:spPr>
            <a:xfrm>
              <a:off x="440" y="2647"/>
              <a:ext cx="275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j-ea"/>
                  <a:ea typeface="+mj-ea"/>
                </a:rPr>
                <a:t>个人技能</a:t>
              </a:r>
            </a:p>
            <a:p>
              <a:endParaRPr lang="zh-CN" altLang="en-US" b="1" dirty="0">
                <a:latin typeface="+mj-ea"/>
                <a:ea typeface="+mj-ea"/>
              </a:endParaRPr>
            </a:p>
          </p:txBody>
        </p:sp>
        <p:cxnSp>
          <p:nvCxnSpPr>
            <p:cNvPr id="5" name="直接连接符 67"/>
            <p:cNvCxnSpPr/>
            <p:nvPr/>
          </p:nvCxnSpPr>
          <p:spPr>
            <a:xfrm>
              <a:off x="567" y="3216"/>
              <a:ext cx="1077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0"/>
            <a:ext cx="1435735" cy="13938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c5ZmYzNDQyY2M0ZDMwN2I1NjQxYmE1YTBkNTUxMG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742</Words>
  <Application>Microsoft Office PowerPoint</Application>
  <PresentationFormat>自定义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DBY-W09</dc:creator>
  <cp:lastModifiedBy>linxianglong.7</cp:lastModifiedBy>
  <cp:revision>27</cp:revision>
  <dcterms:created xsi:type="dcterms:W3CDTF">2023-09-05T14:27:00Z</dcterms:created>
  <dcterms:modified xsi:type="dcterms:W3CDTF">2026-09-04T02:37:03Z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177AE1F8BF4C4B3CBB63495E765748EF_13</vt:lpwstr>
  </property>
</Properties>
</file>